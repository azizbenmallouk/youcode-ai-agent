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à tous. Je vous présente YouCode AI Platform, un système d'assistance automatisée. Le but est de réduire la charge manuelle tout en gardant une interface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faisons face à de multiples requêtes répétitives. La solution doit être accessible là où sont nos candidats : sur WhatsApp.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L'architecture s'appuie sur une pipeline allant de WhatsApp à FastAPI, qui distribue ensuite la tâche aux agents via LangGraph. Ces agents consomment le RAG et écrivent dans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système gère plusieurs intentions : découverte, démarches administratives, abonnement, report d'admission.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architecture modulaire : le webhook FastAPI passe le relais au Supervisor LangGraph, qui délègue ensuite aux agents. Chaque agent a accès à ses propres services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agent a une responsabilité unique. Le Guide utilise le RAG pour ne pas halluciner. Le Support collecte des entités pour les démarches.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LangGraph garde l'état de la conversation. Si le candidat remplit déjà un formulaire, on by-pass la détection d'intention pour retourner directement dans la phase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Ceci est le graphe réel. Les noeuds s'exécutent de manière séquentielle, mais peuvent atteindre la fin (END) prématurément pour attendre l'input WhatsApp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retriever utilise Qdrant. La stratégie Parent-Child permet de trouver l'info exacte dans un petit bout de texte, puis de charger le document complet pour le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L'agent Support utilise Pydantic pour l'extraction structurée. S'il manque un email, l'agent pose automatiquement la question et met le graphe 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un report de test : le visiteur demande, l'agent crée un brouillon via MCP, propose une date, et finalement la demande arrive au statut 'À Valider' pour le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L'agent ne force pas les choix. Il interroge les APIs pour trouver des créneaux, les propose au candidat et adapte son comportement selon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standardise la communication avec les outils. Les agents ne savent pas qu'ils utilisent Sheets, ils appellent juste des méthodes unifiées. Cela permet un découplage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est la clé de voûte. Il gère l'asynchronisme pour ne pas bloquer les messages WhatsApp pendant que le LLM génère sa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de validation de date sans humain. Pas d'insertion sans consentement explicite. Tout est cadré pour protéger YouCode et le visiteur.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chiffres basés sur l'implémentation actuelle prouvent que le noyau est minimaliste mais couvre 100% de la surface attendue pour les démarches de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avons livré le MVP complet. La prochaine étape est de remplacer Google Sheets par une vraie interface d'administration en Next.js.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 pour votre attention. Je suis maintenant à votre disposition pour la démo ou vos questions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C96442"/>
                </a:solidFill>
              </a:defRPr>
            </a:pPr>
            <a:r>
              <a:t>YouCode AI Platform</a:t>
            </a:r>
          </a:p>
          <a:p>
            <a:pPr>
              <a:defRPr sz="2400">
                <a:solidFill>
                  <a:srgbClr val="6B655F"/>
                </a:solidFill>
              </a:defRPr>
            </a:pPr>
            <a:r>
              <a:t>Plateforme conversationnelle multi-agent</a:t>
            </a:r>
          </a:p>
          <a:p>
            <a:br/>
            <a:pPr>
              <a:defRPr sz="2000">
                <a:solidFill>
                  <a:srgbClr val="25221F"/>
                </a:solidFill>
              </a:defRPr>
            </a:pPr>
            <a:r>
              <a:t>Aziz BENMALLOUK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0" y="2743200"/>
            <a:ext cx="1828800" cy="13716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1371600"/>
            <a:ext cx="1371600" cy="9144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971800"/>
            <a:ext cx="1371600" cy="9144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1371600" cy="9144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Newsletter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9718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WhatsApp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3429000"/>
            <a:ext cx="9144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44000" y="1828800"/>
            <a:ext cx="914400" cy="16002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3429000"/>
            <a:ext cx="9144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3429000"/>
            <a:ext cx="914400" cy="16002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Le Besoin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Informations dispersées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Demandes répétitives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Suivi manuel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Disponibilité limitée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3657600"/>
            <a:ext cx="1371600" cy="0"/>
          </a:xfrm>
          <a:prstGeom prst="line">
            <a:avLst/>
          </a:prstGeom>
          <a:ln w="38100">
            <a:solidFill>
              <a:srgbClr val="C96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2743200"/>
            <a:ext cx="4572000" cy="18288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Assistance fiable</a:t>
            </a:r>
          </a:p>
          <a:p>
            <a:pPr algn="ctr">
              <a:defRPr sz="1800">
                <a:solidFill>
                  <a:srgbClr val="25221F"/>
                </a:solidFill>
              </a:defRPr>
            </a:pPr>
            <a:r>
              <a:t>Multilingue et disponible sur WhatsApp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Flux de Résolution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WhatsApp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Canal utilisateur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34290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FastAPI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Point d'entrée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4290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Multi-Agent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Orchestration LangGraph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34290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74320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RAG &amp; MCP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Services externes (Qdrant, Sheets)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34290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274320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Réponse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Personnalisée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Cas d'Utilisation Couverts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2743200"/>
            <a:ext cx="2130552" cy="13716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Visiteur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Centre d'attention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Découvrir YouCode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Report de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Newsletter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1828800"/>
            <a:ext cx="914400" cy="13716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159752" y="1828800"/>
            <a:ext cx="1069848" cy="13716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114800" y="3657600"/>
            <a:ext cx="914400" cy="13716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159752" y="3657600"/>
            <a:ext cx="1069848" cy="13716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Architecture en Couches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229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Canal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WhatsApp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377440"/>
            <a:ext cx="8229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Entrée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Webhook 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383280"/>
            <a:ext cx="8229600" cy="73152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Orchestration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LangGraph + Supervisor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389120"/>
            <a:ext cx="2560320" cy="73152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Guide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389120"/>
            <a:ext cx="2560320" cy="73152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Support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389120"/>
            <a:ext cx="2560320" cy="73152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Newsletter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94960"/>
            <a:ext cx="8229600" cy="731520"/>
          </a:xfrm>
          <a:prstGeom prst="roundRect">
            <a:avLst/>
          </a:prstGeom>
          <a:solidFill>
            <a:srgbClr val="496A81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Données &amp; Services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Qdrant | MCP | Google Sheets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Spécialisation des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2743200"/>
            <a:ext cx="2130552" cy="13716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Supervisor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Routage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200400" cy="13716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Guide Agent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Rôle : Informations</a:t>
            </a:r>
            <a:br/>
            <a:r>
              <a:t>Outil : RAG (Qdrant)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200400" cy="13716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Support Agent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Rôle : Démarches</a:t>
            </a:r>
            <a:br/>
            <a:r>
              <a:t>Outil : Formulaires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5029200"/>
            <a:ext cx="3200400" cy="13716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Newsletter Agent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Rôle : Inscription</a:t>
            </a:r>
            <a:br/>
            <a:r>
              <a:t>Outil : Sheets via MCP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057400"/>
            <a:ext cx="914400" cy="11430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159752" y="2057400"/>
            <a:ext cx="1069848" cy="11430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089904" y="4114800"/>
            <a:ext cx="0" cy="9144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Maintien du Contexte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Nouvelle intention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START</a:t>
            </a:r>
            <a:br/>
            <a:r>
              <a:t>↓</a:t>
            </a:r>
            <a:br/>
            <a:r>
              <a:t>Supervisor</a:t>
            </a:r>
            <a:br/>
            <a:r>
              <a:t>↓</a:t>
            </a:r>
            <a:br/>
            <a:r>
              <a:t>Nouvel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3657600" cy="27432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Conversation active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START</a:t>
            </a:r>
            <a:br/>
            <a:r>
              <a:t>↓</a:t>
            </a:r>
            <a:br/>
            <a:r>
              <a:t>Phase active</a:t>
            </a:r>
            <a:br/>
            <a:r>
              <a:t>↓</a:t>
            </a:r>
            <a:br/>
            <a:r>
              <a:t>Agent actuel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29200"/>
            <a:ext cx="10058400" cy="9144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Un workflow actif conserve la conversation sans nouvelle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Graphe d'État LangGraph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30449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Supervisor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Support: Extract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Support: Consent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Support: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Support: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7432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News: Extract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6576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News: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5720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News: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486400"/>
            <a:ext cx="3044952" cy="73152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END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Arrêt / Reprise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86000" y="1737360"/>
            <a:ext cx="2286000" cy="100584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16952" y="1737360"/>
            <a:ext cx="1984248" cy="100584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RAG : Parent-Child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1371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32004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27432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Recherche Child</a:t>
            </a:r>
            <a:br/>
            <a:r>
              <a:t>(Petit chunk)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32004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2743200"/>
            <a:ext cx="1828800" cy="9144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Parent Context</a:t>
            </a:r>
            <a:br/>
            <a:r>
              <a:t>(Doc complet)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32004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0" y="27432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LLM</a:t>
            </a:r>
            <a:br/>
            <a:r>
              <a:t>(Génération)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320040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274320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Réponse vérifiée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029200"/>
            <a:ext cx="2286000" cy="73152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Docs officiels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5029200"/>
            <a:ext cx="2286000" cy="73152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Multilingue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029200"/>
            <a:ext cx="2286000" cy="73152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Zéro invention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Timeline du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1. Détection demande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4572000" cy="54864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2. Extraction structurée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4572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3. Question au visiteur (champ manquant)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4572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4. Validation du consentement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4572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5. Enregistrement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4320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State Interne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active_agent : support</a:t>
            </a:r>
            <a:br/>
            <a:r>
              <a:t>phase : extraction</a:t>
            </a:r>
            <a:br/>
            <a:r>
              <a:t>draft : {email: ...}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Flux métier : Report de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Visiteur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2103120"/>
            <a:ext cx="0" cy="384048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0" y="13716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Support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103120"/>
            <a:ext cx="0" cy="384048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371600"/>
            <a:ext cx="1828800" cy="73152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MCP Sheets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2103120"/>
            <a:ext cx="0" cy="384048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0" y="13716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Responsable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0" y="2103120"/>
            <a:ext cx="0" cy="384048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27432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1. Demande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926080"/>
            <a:ext cx="2743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36576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2. Brouillon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840480"/>
            <a:ext cx="2743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86000" y="45720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3. Proposition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828800" y="4754880"/>
            <a:ext cx="2743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0" y="54864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4. Validation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5669280"/>
            <a:ext cx="2743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Prise de décision interactive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Session proposée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2743200"/>
            <a:ext cx="0" cy="9144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365760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Convient-elle 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828800" y="4572000"/>
            <a:ext cx="914400" cy="9144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4572000"/>
            <a:ext cx="914400" cy="9144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5486400"/>
            <a:ext cx="1828800" cy="9144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Oui → Valider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486400"/>
            <a:ext cx="1828800" cy="9144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Non → Alternative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WhatsApp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Agent : Session 20 août ?</a:t>
            </a:r>
            <a:br/>
            <a:br/>
            <a:r>
              <a:t>Visiteur : Non, une autre.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Model Context Protocol (MCP)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237744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8288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Client MCP</a:t>
            </a:r>
            <a:br/>
            <a:r>
              <a:t>(Standard)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237744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0" y="18288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Serveur MCP</a:t>
            </a:r>
            <a:br/>
            <a:r>
              <a:t>(FastMCP)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0" y="2377440"/>
            <a:ext cx="4572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0" y="1828800"/>
            <a:ext cx="2743200" cy="109728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Google 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State (SQLite)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Mémoire Temporaire</a:t>
            </a:r>
            <a:br/>
            <a:r>
              <a:t>Brouillons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4572000" cy="18288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Google Sheets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Mémoire Persistante</a:t>
            </a:r>
            <a:br/>
            <a:r>
              <a:t>Suivi Métier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Moteur Central : FastAPI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2743200"/>
            <a:ext cx="2286000" cy="1371600"/>
          </a:xfrm>
          <a:prstGeom prst="roundRect">
            <a:avLst/>
          </a:prstGeom>
          <a:solidFill>
            <a:srgbClr val="496A81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FastAPI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Webhook &amp;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WhatsApp Webhook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Qdrant Vector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LangGraph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5720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Google Sheets MCP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286000"/>
            <a:ext cx="914400" cy="11430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315200" y="2286000"/>
            <a:ext cx="914400" cy="11430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114800" y="3429000"/>
            <a:ext cx="914400" cy="16002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315200" y="3429000"/>
            <a:ext cx="914400" cy="160020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Garanties Fonctionnelles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Consentement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Validation explicite requise.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Validation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Typage fort Pydantic.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2860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Outils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Sécurisation MCP.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286000"/>
            <a:ext cx="2286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Humain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Responsable dans la boucle.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0515600" cy="73152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Défense en profondeur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Métrique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8288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3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Agents Spécialisés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743200" cy="18288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2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Workflows Métier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2743200" cy="1828800"/>
          </a:xfrm>
          <a:prstGeom prst="roundRect">
            <a:avLst/>
          </a:prstGeom>
          <a:solidFill>
            <a:srgbClr val="496A81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1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Serveur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058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Bénéfices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Disponibilité 24/7 | Automatisation fiable | Traçabilité Sheets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Limites et Perspectives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743200" cy="2743200"/>
          </a:xfrm>
          <a:prstGeom prst="roundRect">
            <a:avLst/>
          </a:prstGeom>
          <a:solidFill>
            <a:srgbClr val="DCEBE5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Aujourd'hui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WhatsApp</a:t>
            </a:r>
            <a:br/>
            <a:r>
              <a:t>RAG</a:t>
            </a:r>
            <a:br/>
            <a:r>
              <a:t>MCP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74320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Court Terme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Interface Admin</a:t>
            </a:r>
            <a:br/>
            <a:r>
              <a:t>Agent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743200"/>
            <a:ext cx="2743200" cy="2743200"/>
          </a:xfrm>
          <a:prstGeom prst="roundRect">
            <a:avLst/>
          </a:prstGeom>
          <a:solidFill>
            <a:srgbClr val="F1D8CE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b="1" sz="2000">
                <a:solidFill>
                  <a:srgbClr val="25221F"/>
                </a:solidFill>
              </a:defRPr>
            </a:pPr>
            <a:r>
              <a:t>Long Terme</a:t>
            </a:r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PostgreSQL</a:t>
            </a:r>
            <a:br/>
            <a:r>
              <a:t>Analytics Avancés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4114800"/>
            <a:ext cx="9144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4114800"/>
            <a:ext cx="914400" cy="0"/>
          </a:xfrm>
          <a:prstGeom prst="line">
            <a:avLst/>
          </a:prstGeom>
          <a:ln w="38100">
            <a:solidFill>
              <a:srgbClr val="6B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5221F"/>
                </a:solidFill>
                <a:latin typeface="Arial"/>
              </a:defRPr>
            </a:pPr>
            <a:r>
              <a:t>L'essentiel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Point d'entrée simple (WhatsApp)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20040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Intelligence organisée (Agents)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57200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defRPr sz="1800">
                <a:solidFill>
                  <a:srgbClr val="6B655F"/>
                </a:solidFill>
              </a:defRPr>
            </a:pPr>
            <a:r>
              <a:t>Exécution contrôlée (MCP &amp; Humain)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943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Merci pour votre attention.</a:t>
            </a:r>
            <a:br/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